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640080"/>
            <a:ext cx="1097280" cy="1097280"/>
          </a:xfrm>
          <a:prstGeom prst="ellipse">
            <a:avLst/>
          </a:prstGeom>
          <a:solidFill>
            <a:srgbClr val="263B8C"/>
          </a:solidFill>
          <a:ln/>
        </p:spPr>
      </p:sp>
      <p:pic>
        <p:nvPicPr>
          <p:cNvPr id="3" name="Image 0" descr="icon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92537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0312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Threat Incident Analytics &amp;</a:t>
            </a:r>
            <a:endParaRPr lang="en-US" sz="3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Visualization Framework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7033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7.0  |  Data Analytics Track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998568" y="4297680"/>
            <a:ext cx="2194560" cy="0"/>
          </a:xfrm>
          <a:prstGeom prst="line">
            <a:avLst/>
          </a:prstGeom>
          <a:noFill/>
          <a:ln w="19050">
            <a:solidFill>
              <a:srgbClr val="00B0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526280"/>
            <a:ext cx="103628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Kotla Ambika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493776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B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Presentation  |  Milestones 1 - 4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5577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BI analytics project that tracks cybersecurity incidents end-to-end - starting with descriptive analysis of what happened, extending into geospatial and temporal patterns, and culminating in a predictive, risk-scored view built for executive decision-making.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in Power BI using DAX measures, star-schema modeling, Power Query, and native forecasting analytics.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92240" y="12344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7429500" y="14904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icon_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5921" y="1656893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0" y="2286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2651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Classification &amp;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Analytics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235440" y="123444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</p:spPr>
      </p:sp>
      <p:sp>
        <p:nvSpPr>
          <p:cNvPr id="11" name="Shape 8"/>
          <p:cNvSpPr/>
          <p:nvPr/>
        </p:nvSpPr>
        <p:spPr>
          <a:xfrm>
            <a:off x="10172700" y="149047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icon_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9121" y="1656893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326880" y="22860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326880" y="26517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Threat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92240" y="38404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</p:spPr>
      </p:sp>
      <p:sp>
        <p:nvSpPr>
          <p:cNvPr id="16" name="Shape 12"/>
          <p:cNvSpPr/>
          <p:nvPr/>
        </p:nvSpPr>
        <p:spPr>
          <a:xfrm>
            <a:off x="7429500" y="40965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icon_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921" y="4262933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83680" y="4892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583680" y="5257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&amp; Incident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Analytics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235440" y="3840480"/>
            <a:ext cx="2514600" cy="2377440"/>
          </a:xfrm>
          <a:prstGeom prst="roundRect">
            <a:avLst>
              <a:gd name="adj" fmla="val 3077"/>
            </a:avLst>
          </a:prstGeom>
          <a:solidFill>
            <a:srgbClr val="F4F6FB"/>
          </a:solidFill>
          <a:ln/>
        </p:spPr>
      </p:sp>
      <p:sp>
        <p:nvSpPr>
          <p:cNvPr id="21" name="Shape 16"/>
          <p:cNvSpPr/>
          <p:nvPr/>
        </p:nvSpPr>
        <p:spPr>
          <a:xfrm>
            <a:off x="10172700" y="409651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icon_brai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9121" y="4262933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4892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326880" y="525780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&amp; Executive</a:t>
            </a:r>
            <a:endParaRPr lang="en-US" sz="10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and Security Visualization Framework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914400"/>
            <a:ext cx="1005840" cy="1005840"/>
          </a:xfrm>
          <a:prstGeom prst="ellipse">
            <a:avLst/>
          </a:prstGeom>
          <a:solidFill>
            <a:srgbClr val="263B8C"/>
          </a:solidFill>
          <a:ln/>
        </p:spPr>
      </p:sp>
      <p:pic>
        <p:nvPicPr>
          <p:cNvPr id="4" name="Image 0" descr="icon_cha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558" y="117591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148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74320" y="25603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Classification &amp;</a:t>
            </a:r>
            <a:endParaRPr lang="en-US" sz="2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Analytics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4348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434840" y="1316736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123444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synthetic cybersecurity dataset in Excel (Security_Incidents, Response_Action, Asset_Inventory, Vulnerability_Data) using real CVE and CVSSv3 identifiers.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029968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194767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Modeled the data using star schema and DAX measures across Power BI.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2743200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266090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 interactive dashboard with KPI cards, category/location breakdowns, severity distribution, monthly trend, and response-time analysis.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434840" y="3456432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37413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slicers for Date, Category, Severity, and City.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434840" y="4224528"/>
            <a:ext cx="216408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17" name="Text 14"/>
          <p:cNvSpPr/>
          <p:nvPr/>
        </p:nvSpPr>
        <p:spPr>
          <a:xfrm>
            <a:off x="4434840" y="4315968"/>
            <a:ext cx="216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434840" y="4773168"/>
            <a:ext cx="216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873240" y="4224528"/>
            <a:ext cx="216408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20" name="Text 17"/>
          <p:cNvSpPr/>
          <p:nvPr/>
        </p:nvSpPr>
        <p:spPr>
          <a:xfrm>
            <a:off x="6873240" y="4315968"/>
            <a:ext cx="216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873240" y="4773168"/>
            <a:ext cx="216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311640" y="4224528"/>
            <a:ext cx="216408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23" name="Text 20"/>
          <p:cNvSpPr/>
          <p:nvPr/>
        </p:nvSpPr>
        <p:spPr>
          <a:xfrm>
            <a:off x="9311640" y="4315968"/>
            <a:ext cx="216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311640" y="4773168"/>
            <a:ext cx="216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and Security Visualization Framework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914400"/>
            <a:ext cx="1005840" cy="1005840"/>
          </a:xfrm>
          <a:prstGeom prst="ellipse">
            <a:avLst/>
          </a:prstGeom>
          <a:solidFill>
            <a:srgbClr val="263B8C"/>
          </a:solidFill>
          <a:ln/>
        </p:spPr>
      </p:sp>
      <p:pic>
        <p:nvPicPr>
          <p:cNvPr id="4" name="Image 0" descr="icon_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558" y="117591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148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74320" y="25603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Geospatial Threat</a:t>
            </a:r>
            <a:endParaRPr lang="en-US" sz="2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4348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434840" y="1316736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123444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the Milestone 1 dashboard with geospatial visuals - bubble map, filled map, and Top 10 Risk Cities.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029968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194767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response-time-by-city and threat-concentration analysis.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2743200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266090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drill-through to a City Details page with dynamic tooltips.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434840" y="3456432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37413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1-page insight report with 3 key insights and 2 business recommendations.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434840" y="4224528"/>
            <a:ext cx="216408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17" name="Text 14"/>
          <p:cNvSpPr/>
          <p:nvPr/>
        </p:nvSpPr>
        <p:spPr>
          <a:xfrm>
            <a:off x="4434840" y="4315968"/>
            <a:ext cx="216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434840" y="4773168"/>
            <a:ext cx="216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Visuals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873240" y="4224528"/>
            <a:ext cx="216408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20" name="Text 17"/>
          <p:cNvSpPr/>
          <p:nvPr/>
        </p:nvSpPr>
        <p:spPr>
          <a:xfrm>
            <a:off x="6873240" y="4315968"/>
            <a:ext cx="216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873240" y="4773168"/>
            <a:ext cx="216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 Page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311640" y="4224528"/>
            <a:ext cx="216408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23" name="Text 20"/>
          <p:cNvSpPr/>
          <p:nvPr/>
        </p:nvSpPr>
        <p:spPr>
          <a:xfrm>
            <a:off x="9311640" y="4315968"/>
            <a:ext cx="216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311640" y="4773168"/>
            <a:ext cx="216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and Security Visualization Framework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914400"/>
            <a:ext cx="1005840" cy="1005840"/>
          </a:xfrm>
          <a:prstGeom prst="ellipse">
            <a:avLst/>
          </a:prstGeom>
          <a:solidFill>
            <a:srgbClr val="263B8C"/>
          </a:solidFill>
          <a:ln/>
        </p:spPr>
      </p:sp>
      <p:pic>
        <p:nvPicPr>
          <p:cNvPr id="4" name="Image 0" descr="icon_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558" y="117591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148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274320" y="256032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&amp; Incident</a:t>
            </a:r>
            <a:endParaRPr lang="en-US" sz="2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 Analytics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4348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434840" y="1316736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1234440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time-based trend analysis - hourly, daily, weekly, monthly, and seasonal.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2029968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194767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anomaly and activity-spike detection alongside environmental-factor analysis (weather, shift, day type).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2743200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2660904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incident response analytics - response/resolution time, team performance, and status distribution.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434840" y="3456432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15" name="Text 12"/>
          <p:cNvSpPr/>
          <p:nvPr/>
        </p:nvSpPr>
        <p:spPr>
          <a:xfrm>
            <a:off x="4663440" y="3374136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two dashboards with 5 key insights and 3 operational recommendations.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434840" y="4224528"/>
            <a:ext cx="216408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17" name="Text 14"/>
          <p:cNvSpPr/>
          <p:nvPr/>
        </p:nvSpPr>
        <p:spPr>
          <a:xfrm>
            <a:off x="4434840" y="4315968"/>
            <a:ext cx="216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434840" y="4773168"/>
            <a:ext cx="216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873240" y="4224528"/>
            <a:ext cx="216408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20" name="Text 17"/>
          <p:cNvSpPr/>
          <p:nvPr/>
        </p:nvSpPr>
        <p:spPr>
          <a:xfrm>
            <a:off x="6873240" y="4315968"/>
            <a:ext cx="216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873240" y="4773168"/>
            <a:ext cx="216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9311640" y="4224528"/>
            <a:ext cx="2164080" cy="9144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</p:spPr>
      </p:sp>
      <p:sp>
        <p:nvSpPr>
          <p:cNvPr id="23" name="Text 20"/>
          <p:cNvSpPr/>
          <p:nvPr/>
        </p:nvSpPr>
        <p:spPr>
          <a:xfrm>
            <a:off x="9311640" y="4315968"/>
            <a:ext cx="216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9311640" y="4773168"/>
            <a:ext cx="2164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Threat Incident Analytics and Security Visualization Framework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777240"/>
            <a:ext cx="1097280" cy="1097280"/>
          </a:xfrm>
          <a:prstGeom prst="ellipse">
            <a:avLst/>
          </a:prstGeom>
          <a:solidFill>
            <a:srgbClr val="263B8C"/>
          </a:solidFill>
          <a:ln/>
        </p:spPr>
      </p:sp>
      <p:pic>
        <p:nvPicPr>
          <p:cNvPr id="3" name="Image 0" descr="icon_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0625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1488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4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278892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Assessment, Predictive Intelligence &amp; Executive Analytics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46608" y="365760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263B8C"/>
          </a:solidFill>
          <a:ln/>
        </p:spPr>
      </p:sp>
      <p:sp>
        <p:nvSpPr>
          <p:cNvPr id="7" name="Text 4"/>
          <p:cNvSpPr/>
          <p:nvPr/>
        </p:nvSpPr>
        <p:spPr>
          <a:xfrm>
            <a:off x="746608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38048" y="4251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489808" y="365760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263B8C"/>
          </a:solidFill>
          <a:ln/>
        </p:spPr>
      </p:sp>
      <p:sp>
        <p:nvSpPr>
          <p:cNvPr id="10" name="Text 7"/>
          <p:cNvSpPr/>
          <p:nvPr/>
        </p:nvSpPr>
        <p:spPr>
          <a:xfrm>
            <a:off x="3489808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81248" y="4251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233008" y="365760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263B8C"/>
          </a:solidFill>
          <a:ln/>
        </p:spPr>
      </p:sp>
      <p:sp>
        <p:nvSpPr>
          <p:cNvPr id="13" name="Text 10"/>
          <p:cNvSpPr/>
          <p:nvPr/>
        </p:nvSpPr>
        <p:spPr>
          <a:xfrm>
            <a:off x="6233008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24448" y="4251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976208" y="365760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263B8C"/>
          </a:solidFill>
          <a:ln/>
        </p:spPr>
      </p:sp>
      <p:sp>
        <p:nvSpPr>
          <p:cNvPr id="16" name="Text 13"/>
          <p:cNvSpPr/>
          <p:nvPr/>
        </p:nvSpPr>
        <p:spPr>
          <a:xfrm>
            <a:off x="8976208" y="3840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067648" y="4251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Interactivity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Risk Assessment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scoring by location and department, resource gaps, and vulnerability weaknesses.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027449" y="1252728"/>
            <a:ext cx="8136796" cy="4581144"/>
          </a:xfrm>
          <a:prstGeom prst="roundRect">
            <a:avLst>
              <a:gd name="adj" fmla="val 798"/>
            </a:avLst>
          </a:prstGeom>
          <a:solidFill>
            <a:srgbClr val="F4F6FB"/>
          </a:solidFill>
          <a:ln w="12700">
            <a:solidFill>
              <a:srgbClr val="D9DEEA"/>
            </a:solidFill>
            <a:prstDash val="solid"/>
          </a:ln>
        </p:spPr>
      </p:sp>
      <p:pic>
        <p:nvPicPr>
          <p:cNvPr id="5" name="Image 0" descr="s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0601" y="1325880"/>
            <a:ext cx="7990492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0601" y="5989320"/>
            <a:ext cx="17918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45.46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00601" y="6336792"/>
            <a:ext cx="17918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Score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166804" y="5989320"/>
            <a:ext cx="17918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66804" y="6336792"/>
            <a:ext cx="17918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33008" y="5989320"/>
            <a:ext cx="17918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33008" y="6336792"/>
            <a:ext cx="17918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Exposure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299211" y="5989320"/>
            <a:ext cx="179188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99211" y="6336792"/>
            <a:ext cx="1791883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Gap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Intelligence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Power BI forecasting, risk probability, and emerging high-risk zones.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027449" y="1252728"/>
            <a:ext cx="8136796" cy="4581144"/>
          </a:xfrm>
          <a:prstGeom prst="roundRect">
            <a:avLst>
              <a:gd name="adj" fmla="val 798"/>
            </a:avLst>
          </a:prstGeom>
          <a:solidFill>
            <a:srgbClr val="F4F6FB"/>
          </a:solidFill>
          <a:ln w="12700">
            <a:solidFill>
              <a:srgbClr val="D9DEEA"/>
            </a:solidFill>
            <a:prstDash val="solid"/>
          </a:ln>
        </p:spPr>
      </p:sp>
      <p:pic>
        <p:nvPicPr>
          <p:cNvPr id="5" name="Image 0" descr="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0601" y="1325880"/>
            <a:ext cx="7990492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0601" y="5989320"/>
            <a:ext cx="24806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15-day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00601" y="6336792"/>
            <a:ext cx="24806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Window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855539" y="5989320"/>
            <a:ext cx="24806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55539" y="6336792"/>
            <a:ext cx="24806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Probability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10476" y="5989320"/>
            <a:ext cx="24806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10476" y="6336792"/>
            <a:ext cx="24806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Intelligence Dashboard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condensed, decision-ready summary built for leadership review.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2027449" y="1252728"/>
            <a:ext cx="8136796" cy="4581144"/>
          </a:xfrm>
          <a:prstGeom prst="roundRect">
            <a:avLst>
              <a:gd name="adj" fmla="val 798"/>
            </a:avLst>
          </a:prstGeom>
          <a:solidFill>
            <a:srgbClr val="F4F6FB"/>
          </a:solidFill>
          <a:ln w="12700">
            <a:solidFill>
              <a:srgbClr val="D9DEEA"/>
            </a:solidFill>
            <a:prstDash val="solid"/>
          </a:ln>
        </p:spPr>
      </p:sp>
      <p:pic>
        <p:nvPicPr>
          <p:cNvPr id="5" name="Image 0" descr="e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0601" y="1325880"/>
            <a:ext cx="7990492" cy="4434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0601" y="5989320"/>
            <a:ext cx="24806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00601" y="6336792"/>
            <a:ext cx="24806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855539" y="5989320"/>
            <a:ext cx="24806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55539" y="6336792"/>
            <a:ext cx="24806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Cities Tracked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10476" y="5989320"/>
            <a:ext cx="248061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10476" y="6336792"/>
            <a:ext cx="248061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Synced Slicers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Key Insights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icon_bullsey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400861"/>
            <a:ext cx="307238" cy="30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207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risk is Medium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371600" y="156362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Score of 45.46/100 - manageable, but non-trivial.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00800" y="12344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icon_m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221" y="1400861"/>
            <a:ext cx="307238" cy="30723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23760" y="12070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evenly spread across cities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223760" y="156362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(48), Chennai &amp; Mumbai (47), Hyderabad (45).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4864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icon_user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268102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2487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HR are most resource-strained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371600" y="284378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average 2.0 incidents per analyst; Finance has the worst gap (3.2).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00800" y="25146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3" descr="icon_warn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2681021"/>
            <a:ext cx="307238" cy="3072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23760" y="2487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of vulnerabilities are unresolved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7223760" y="284378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28 tracked: 10 Unpatched, 11 In Progress, only 7 Patched.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548640" y="3794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icon_char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3961181"/>
            <a:ext cx="307238" cy="30723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37673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Operations &amp; Finance carry top risk scores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371600" y="412394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and 46 respectively - the priority departments for action.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63040" y="1005840"/>
            <a:ext cx="1005840" cy="1005840"/>
          </a:xfrm>
          <a:prstGeom prst="ellipse">
            <a:avLst/>
          </a:prstGeom>
          <a:solidFill>
            <a:srgbClr val="263B8C"/>
          </a:solidFill>
          <a:ln/>
        </p:spPr>
      </p:sp>
      <p:pic>
        <p:nvPicPr>
          <p:cNvPr id="4" name="Image 0" descr="icon_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4558" y="126735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228600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</a:t>
            </a:r>
            <a:endParaRPr lang="en-US" sz="2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434840" y="987552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7" name="Text 4"/>
          <p:cNvSpPr/>
          <p:nvPr/>
        </p:nvSpPr>
        <p:spPr>
          <a:xfrm>
            <a:off x="4663440" y="859536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Predictive Threat Risk Model uses Power BI's native Forecast analytics on a daily incident-count series, projecting roughly 15 days forward with a 95% confidence band.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2286000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9" name="Text 6"/>
          <p:cNvSpPr/>
          <p:nvPr/>
        </p:nvSpPr>
        <p:spPr>
          <a:xfrm>
            <a:off x="4663440" y="2157984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dataset spans only 2-3 months, the forecast should be read as an early trend indicator, not a long-range prediction - reflected in its wide confidence band.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34840" y="3584448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11" name="Text 8"/>
          <p:cNvSpPr/>
          <p:nvPr/>
        </p:nvSpPr>
        <p:spPr>
          <a:xfrm>
            <a:off x="4663440" y="3456432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Probability % (30-day count vs. 180-day average) is currently at its 100% ceiling - a signal worth flagging, but tempered by the limited historical baseline.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434840" y="4882896"/>
            <a:ext cx="82296" cy="82296"/>
          </a:xfrm>
          <a:prstGeom prst="ellipse">
            <a:avLst/>
          </a:prstGeom>
          <a:solidFill>
            <a:srgbClr val="00B0A8"/>
          </a:solidFill>
          <a:ln/>
        </p:spPr>
      </p:sp>
      <p:sp>
        <p:nvSpPr>
          <p:cNvPr id="13" name="Text 10"/>
          <p:cNvSpPr/>
          <p:nvPr/>
        </p:nvSpPr>
        <p:spPr>
          <a:xfrm>
            <a:off x="4663440" y="47548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Emerging Risk Zones map confirms the location findings: Bangalore, Chennai, and Mumbai form the largest risk bubbles and warrant closer monitoring.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Strategic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017520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patch remediation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10 Unpatched and 11 In-Progress vulnerabilities, starting with Unpatched - the biggest lever on Threat Exposure Score.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663440" y="2606040"/>
            <a:ext cx="3017520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Reallocate analyst capacity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3703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capacity toward Finance and HR (2.0 incidents/analyst) from better-resourced teams like Sales and Engineering.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566160" cy="4389120"/>
          </a:xfrm>
          <a:prstGeom prst="roundRect">
            <a:avLst>
              <a:gd name="adj" fmla="val 2051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8503920" y="2606040"/>
            <a:ext cx="3017520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78892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Bangalore, Chennai &amp; Mumbai jointly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03920" y="370332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risk scores are closely clustered - apply citywide mitigation across all three simultaneously.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Techniques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45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icon_tab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4" y="18004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dashboard build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389120" y="13716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1645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icon_diagram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974" y="18004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66344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scoring, forecasting logic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8229600" y="13716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503920" y="1645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icon_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454" y="18004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3920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Modeling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503920" y="2743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Relationship-driven data model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36118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38862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icon_ch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494" y="404073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Forecast Analytics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2296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projection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389120" y="36118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24" name="Shape 18"/>
          <p:cNvSpPr/>
          <p:nvPr/>
        </p:nvSpPr>
        <p:spPr>
          <a:xfrm>
            <a:off x="4663440" y="38862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4" descr="icon_ma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7974" y="404073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6344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Visuals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66344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&amp; filled maps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229600" y="361188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29" name="Shape 22"/>
          <p:cNvSpPr/>
          <p:nvPr/>
        </p:nvSpPr>
        <p:spPr>
          <a:xfrm>
            <a:off x="8503920" y="38862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icon_chec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8454" y="404073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03920" y="4617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Power Query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503920" y="4983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dataset &amp; transforms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463040"/>
            <a:ext cx="1097280" cy="1097280"/>
          </a:xfrm>
          <a:prstGeom prst="ellipse">
            <a:avLst/>
          </a:prstGeom>
          <a:solidFill>
            <a:srgbClr val="263B8C"/>
          </a:solidFill>
          <a:ln/>
        </p:spPr>
      </p:sp>
      <p:pic>
        <p:nvPicPr>
          <p:cNvPr id="3" name="Image 0" descr="icon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7483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83464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5204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98568" y="4160520"/>
            <a:ext cx="2194560" cy="0"/>
          </a:xfrm>
          <a:prstGeom prst="line">
            <a:avLst/>
          </a:prstGeom>
          <a:noFill/>
          <a:ln w="19050">
            <a:solidFill>
              <a:srgbClr val="00B0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BA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Kotla Ambika  |  Infosys Springboard 7.0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2026-08-21T11:51:23Z</dcterms:created>
  <dcterms:modified xsi:type="dcterms:W3CDTF">2026-08-21T11:51:23Z</dcterms:modified>
</cp:coreProperties>
</file>